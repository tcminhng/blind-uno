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8" r:id="rId5"/>
    <p:sldId id="292" r:id="rId6"/>
    <p:sldId id="293" r:id="rId7"/>
    <p:sldId id="294" r:id="rId8"/>
    <p:sldId id="284" r:id="rId9"/>
    <p:sldId id="269" r:id="rId10"/>
    <p:sldId id="297" r:id="rId11"/>
    <p:sldId id="296" r:id="rId12"/>
    <p:sldId id="300" r:id="rId13"/>
    <p:sldId id="256" r:id="rId14"/>
    <p:sldId id="298" r:id="rId15"/>
    <p:sldId id="29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9FAB65-65AD-4250-8B47-B76D98673F0D}">
          <p14:sldIdLst>
            <p14:sldId id="258"/>
            <p14:sldId id="292"/>
            <p14:sldId id="293"/>
            <p14:sldId id="294"/>
            <p14:sldId id="284"/>
            <p14:sldId id="269"/>
            <p14:sldId id="297"/>
            <p14:sldId id="296"/>
            <p14:sldId id="300"/>
            <p14:sldId id="256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6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FB670-7427-4185-8511-6F36A014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D473D-6081-4804-9B28-4FA7D2C38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9C193-D30F-4B7A-8956-32E4F6D9D2C9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8452-BA11-400A-8E67-C003922CC3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A332-336E-4B1B-9128-655A1F9DB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48B1-B6D3-4578-932F-6AE7124E5E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35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AC78B-5884-4D24-983C-916233003E8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B528-7684-4A37-99F6-46340DCC2B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 userDrawn="1"/>
        </p:nvSpPr>
        <p:spPr bwMode="auto">
          <a:xfrm>
            <a:off x="11784011" y="345139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8819" y="2270908"/>
            <a:ext cx="7034362" cy="2188992"/>
          </a:xfrm>
        </p:spPr>
        <p:txBody>
          <a:bodyPr anchor="ctr" anchorCtr="0">
            <a:noAutofit/>
          </a:bodyPr>
          <a:lstStyle>
            <a:lvl1pPr algn="ctr">
              <a:lnSpc>
                <a:spcPct val="85000"/>
              </a:lnSpc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793" y="5024051"/>
            <a:ext cx="7034362" cy="105289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4338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35A1469-2D5F-4CF6-9A65-876A4BCDDACA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15066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72151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5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EE1DAB-B868-4EEB-BD54-B9BAB6F58361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88A9-102E-4111-86E0-D51E9CB704AA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9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7877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BD67-B37A-4DEF-9054-A91A6B18355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1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83FCBB-03A1-486A-BDE2-92BD88EA0F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29006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36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432B8B-A85D-47CE-98BC-3DF0B2F26AF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5400" y="431747"/>
            <a:ext cx="5105400" cy="68463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88800" y="1468316"/>
            <a:ext cx="4831664" cy="3865070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35B7-901B-460F-BE63-E630BF7AD92D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41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62000" y="305678"/>
            <a:ext cx="10667998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C1E-44EC-4ED6-87AC-7B26C9BC7568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F3C3132-3E24-455C-9341-F3767C087D5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C8E5ED0-7922-414F-9B0F-CA82F0A3C660}"/>
              </a:ext>
            </a:extLst>
          </p:cNvPr>
          <p:cNvSpPr/>
          <p:nvPr userDrawn="1"/>
        </p:nvSpPr>
        <p:spPr>
          <a:xfrm>
            <a:off x="0" y="1540330"/>
            <a:ext cx="12192000" cy="47156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8571" y="6314440"/>
            <a:ext cx="3814856" cy="365125"/>
          </a:xfrm>
        </p:spPr>
        <p:txBody>
          <a:bodyPr/>
          <a:lstStyle/>
          <a:p>
            <a:fld id="{4AE13B8D-7A39-483F-9092-AB66B2338492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C76CE-242A-40DC-B9BA-9F6CD2FEB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761999" y="280278"/>
            <a:ext cx="10676571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352848"/>
            <a:ext cx="10667998" cy="1002422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8724" y="1534886"/>
            <a:ext cx="2581273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421F-7852-47A7-8672-3F4B3DC607FF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0" y="1534886"/>
            <a:ext cx="7829550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4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768376-ED37-468E-9A28-4A8C73222CFB}"/>
              </a:ext>
            </a:extLst>
          </p:cNvPr>
          <p:cNvSpPr/>
          <p:nvPr userDrawn="1"/>
        </p:nvSpPr>
        <p:spPr>
          <a:xfrm>
            <a:off x="5263637" y="0"/>
            <a:ext cx="69283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E990-BAB9-4562-95E3-50660C2796F3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EDD3AEB-5731-4BFB-B455-2CAA76BB8C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2695" y="358646"/>
            <a:ext cx="5505450" cy="5896056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noProof="0">
                <a:cs typeface="Segoe UI" panose="020B0502040204020203" pitchFamily="34" charset="0"/>
              </a:rPr>
              <a:t>Edit Master text styles</a:t>
            </a:r>
          </a:p>
        </p:txBody>
      </p:sp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F054F317-CFFE-48EF-91D4-872C9FE7043D}"/>
              </a:ext>
            </a:extLst>
          </p:cNvPr>
          <p:cNvSpPr/>
          <p:nvPr userDrawn="1"/>
        </p:nvSpPr>
        <p:spPr bwMode="auto">
          <a:xfrm>
            <a:off x="11793378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D58896D-DB7B-49E4-87EC-67CEAB2EF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570" y="548792"/>
            <a:ext cx="3833906" cy="495249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1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054D9-7800-4106-9C2D-E383D9D6A16D}"/>
              </a:ext>
            </a:extLst>
          </p:cNvPr>
          <p:cNvSpPr/>
          <p:nvPr userDrawn="1"/>
        </p:nvSpPr>
        <p:spPr>
          <a:xfrm>
            <a:off x="6901869" y="0"/>
            <a:ext cx="529336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BBCD-CBA1-4D0B-806D-FC14D8656200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6659" y="688779"/>
            <a:ext cx="5746376" cy="522307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213600" y="280278"/>
            <a:ext cx="4641006" cy="2397608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Freeform 6" title="Page Number Shape">
            <a:extLst>
              <a:ext uri="{FF2B5EF4-FFF2-40B4-BE49-F238E27FC236}">
                <a16:creationId xmlns:a16="http://schemas.microsoft.com/office/drawing/2014/main" id="{B162E9BD-1CEB-41D5-8DEB-7C5EDF3B01C3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6767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651A72-6E17-4CF4-8218-285FCAC88E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181600" y="557784"/>
            <a:ext cx="6248400" cy="230796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A31231-1080-4CC0-9896-EF779EE27C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5121" y="2950589"/>
            <a:ext cx="6188679" cy="256324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32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95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2D3B-BB2C-4EA8-8616-6D874F8BB777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9539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36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5F786-D848-499D-B37D-96CF11DE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55480"/>
            <a:ext cx="6246812" cy="5305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62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650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E139DA8-D636-4336-B416-25DD0050B639}" type="datetime8">
              <a:rPr lang="en-US" noProof="0" smtClean="0"/>
              <a:t>4/23/2026 1:44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87179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73" r:id="rId4"/>
    <p:sldLayoutId id="2147483677" r:id="rId5"/>
    <p:sldLayoutId id="2147483674" r:id="rId6"/>
    <p:sldLayoutId id="2147483679" r:id="rId7"/>
    <p:sldLayoutId id="2147483678" r:id="rId8"/>
    <p:sldLayoutId id="2147483676" r:id="rId9"/>
    <p:sldLayoutId id="2147483675" r:id="rId10"/>
    <p:sldLayoutId id="2147483665" r:id="rId11"/>
    <p:sldLayoutId id="2147483682" r:id="rId12"/>
    <p:sldLayoutId id="2147483681" r:id="rId13"/>
    <p:sldLayoutId id="2147483667" r:id="rId14"/>
    <p:sldLayoutId id="2147483668" r:id="rId15"/>
    <p:sldLayoutId id="2147483680" r:id="rId16"/>
    <p:sldLayoutId id="2147483683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42BF44E-D144-43DA-B54C-F170B8271F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78B3CD-9828-4280-95EC-5F9D73400FF8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-386080" y="802303"/>
            <a:ext cx="10362580" cy="2188992"/>
          </a:xfrm>
        </p:spPr>
        <p:txBody>
          <a:bodyPr/>
          <a:lstStyle/>
          <a:p>
            <a:r>
              <a:rPr lang="en-US" sz="96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BUNO</a:t>
            </a:r>
            <a:br>
              <a:rPr lang="en-US" sz="9600" dirty="0">
                <a:solidFill>
                  <a:schemeClr val="tx1"/>
                </a:solidFill>
              </a:rPr>
            </a:b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A3178-CB65-4687-BC8A-DBB6F3C6E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199" y="4935820"/>
            <a:ext cx="2712450" cy="1052898"/>
          </a:xfrm>
        </p:spPr>
        <p:txBody>
          <a:bodyPr>
            <a:normAutofit fontScale="40000" lnSpcReduction="20000"/>
          </a:bodyPr>
          <a:lstStyle/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00B0F0"/>
                </a:solidFill>
                <a:cs typeface="Segoe UI"/>
              </a:rPr>
              <a:t>PRESENTED BY:</a:t>
            </a:r>
          </a:p>
          <a:p>
            <a:pPr algn="l">
              <a:lnSpc>
                <a:spcPct val="100000"/>
              </a:lnSpc>
            </a:pPr>
            <a:endParaRPr lang="en-US" sz="3200" dirty="0">
              <a:solidFill>
                <a:srgbClr val="00B0F0"/>
              </a:solidFill>
              <a:cs typeface="Segoe UI"/>
            </a:endParaRPr>
          </a:p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00B0F0"/>
                </a:solidFill>
                <a:cs typeface="Segoe UI"/>
              </a:rPr>
              <a:t>Abdullah </a:t>
            </a:r>
            <a:r>
              <a:rPr lang="en-US" sz="3200" dirty="0" err="1">
                <a:solidFill>
                  <a:srgbClr val="00B0F0"/>
                </a:solidFill>
                <a:cs typeface="Segoe UI"/>
              </a:rPr>
              <a:t>burak</a:t>
            </a:r>
            <a:r>
              <a:rPr lang="en-US" sz="3200" dirty="0">
                <a:solidFill>
                  <a:srgbClr val="00B0F0"/>
                </a:solidFill>
                <a:cs typeface="Segoe UI"/>
              </a:rPr>
              <a:t> </a:t>
            </a:r>
            <a:r>
              <a:rPr lang="en-US" sz="3200" dirty="0" err="1">
                <a:solidFill>
                  <a:srgbClr val="00B0F0"/>
                </a:solidFill>
                <a:cs typeface="Segoe UI"/>
              </a:rPr>
              <a:t>karatepe</a:t>
            </a:r>
            <a:endParaRPr lang="en-US" sz="3200" dirty="0">
              <a:solidFill>
                <a:srgbClr val="00B0F0"/>
              </a:solidFill>
              <a:cs typeface="Segoe UI"/>
            </a:endParaRPr>
          </a:p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00B0F0"/>
                </a:solidFill>
                <a:cs typeface="Segoe UI"/>
              </a:rPr>
              <a:t>Tran Cong Minh Nguyen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00B0F0"/>
                </a:solidFill>
                <a:cs typeface="Segoe UI"/>
              </a:rPr>
              <a:t>Aaron Varghese James</a:t>
            </a:r>
          </a:p>
          <a:p>
            <a:pPr algn="l">
              <a:lnSpc>
                <a:spcPct val="100000"/>
              </a:lnSpc>
            </a:pPr>
            <a:r>
              <a:rPr lang="en-US" sz="3200" dirty="0" err="1">
                <a:solidFill>
                  <a:srgbClr val="00B0F0"/>
                </a:solidFill>
                <a:cs typeface="Segoe UI"/>
              </a:rPr>
              <a:t>Ashwath</a:t>
            </a:r>
            <a:r>
              <a:rPr lang="en-US" sz="3200" dirty="0">
                <a:solidFill>
                  <a:srgbClr val="00B0F0"/>
                </a:solidFill>
                <a:cs typeface="Segoe UI"/>
              </a:rPr>
              <a:t> </a:t>
            </a:r>
            <a:r>
              <a:rPr lang="en-US" sz="3200" dirty="0" err="1">
                <a:solidFill>
                  <a:srgbClr val="00B0F0"/>
                </a:solidFill>
                <a:cs typeface="Segoe UI"/>
              </a:rPr>
              <a:t>BharathiraJA</a:t>
            </a:r>
            <a:endParaRPr lang="en-US" sz="3200" dirty="0">
              <a:solidFill>
                <a:srgbClr val="00B0F0"/>
              </a:solidFill>
              <a:cs typeface="Segoe UI"/>
            </a:endParaRP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92D9B22-CA63-4CDB-8957-40947F45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ED3BED8-0B4E-4DA7-9937-EAD4A1B2B112}"/>
              </a:ext>
            </a:extLst>
          </p:cNvPr>
          <p:cNvSpPr txBox="1">
            <a:spLocks/>
          </p:cNvSpPr>
          <p:nvPr/>
        </p:nvSpPr>
        <p:spPr>
          <a:xfrm>
            <a:off x="8021231" y="4945459"/>
            <a:ext cx="2972691" cy="105289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Corbel" panose="020B0503020204020204" pitchFamily="34" charset="0"/>
              <a:buNone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Corbel" panose="020B0503020204020204" pitchFamily="34" charset="0"/>
              <a:buNone/>
              <a:defRPr sz="1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Corbel" panose="020B0503020204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None/>
              <a:defRPr sz="16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Corbel" panose="020B0503020204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None/>
              <a:defRPr sz="160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500" dirty="0">
                <a:solidFill>
                  <a:srgbClr val="00B0F0"/>
                </a:solidFill>
                <a:cs typeface="Segoe UI"/>
              </a:rPr>
              <a:t>COURSE: FSE 100</a:t>
            </a:r>
          </a:p>
          <a:p>
            <a:pPr algn="l">
              <a:lnSpc>
                <a:spcPct val="100000"/>
              </a:lnSpc>
            </a:pPr>
            <a:r>
              <a:rPr lang="en-US" sz="1500" dirty="0">
                <a:solidFill>
                  <a:srgbClr val="00B0F0"/>
                </a:solidFill>
                <a:cs typeface="Segoe UI"/>
              </a:rPr>
              <a:t>INSTRUCTOR: </a:t>
            </a:r>
            <a:r>
              <a:rPr lang="en-IN" sz="1500" b="0" dirty="0" err="1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Dr.</a:t>
            </a:r>
            <a:r>
              <a:rPr lang="en-IN" sz="1500" b="0" dirty="0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N" sz="1500" b="0" dirty="0" err="1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Ayca</a:t>
            </a:r>
            <a:r>
              <a:rPr lang="en-IN" sz="1500" b="0" dirty="0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N" sz="1500" b="0" dirty="0" err="1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Tuzmen</a:t>
            </a:r>
            <a:endParaRPr lang="en-IN" sz="1500" b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algn="l">
              <a:lnSpc>
                <a:spcPct val="100000"/>
              </a:lnSpc>
            </a:pPr>
            <a:r>
              <a:rPr lang="en-IN" sz="1500" dirty="0">
                <a:solidFill>
                  <a:srgbClr val="00B0F0"/>
                </a:solidFill>
                <a:latin typeface="Roboto" panose="02000000000000000000" pitchFamily="2" charset="0"/>
              </a:rPr>
              <a:t>DATE: 23-04-2026</a:t>
            </a:r>
            <a:endParaRPr lang="en-IN" sz="1500" b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BA7BA0-8C4A-4BC7-A89E-F08FE6B92A68}"/>
              </a:ext>
            </a:extLst>
          </p:cNvPr>
          <p:cNvCxnSpPr/>
          <p:nvPr/>
        </p:nvCxnSpPr>
        <p:spPr>
          <a:xfrm>
            <a:off x="5978039" y="4632960"/>
            <a:ext cx="0" cy="15792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A04163F-BD85-4A4E-A843-42DB574676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61340" y="1178747"/>
            <a:ext cx="2301240" cy="230124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612951-CDD3-4BBD-B440-CEBFBF6FA1AF}"/>
              </a:ext>
            </a:extLst>
          </p:cNvPr>
          <p:cNvSpPr txBox="1"/>
          <p:nvPr/>
        </p:nvSpPr>
        <p:spPr>
          <a:xfrm>
            <a:off x="1676090" y="2888797"/>
            <a:ext cx="623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BLIND AIDE PROTOTYPE</a:t>
            </a:r>
            <a:br>
              <a:rPr lang="en-US" sz="1800" dirty="0">
                <a:solidFill>
                  <a:srgbClr val="00B0F0"/>
                </a:solidFill>
                <a:latin typeface="Baskerville Old Face" panose="02020602080505020303" pitchFamily="18" charset="0"/>
              </a:rPr>
            </a:br>
            <a:br>
              <a:rPr lang="en-US" sz="1800" dirty="0">
                <a:solidFill>
                  <a:srgbClr val="00B0F0"/>
                </a:solidFill>
                <a:latin typeface="Baskerville Old Face" panose="02020602080505020303" pitchFamily="18" charset="0"/>
              </a:rPr>
            </a:br>
            <a:r>
              <a:rPr lang="en-US" sz="1800" i="1" dirty="0">
                <a:solidFill>
                  <a:srgbClr val="00B0F0"/>
                </a:solidFill>
                <a:latin typeface="Baskerville Old Face" panose="02020602080505020303" pitchFamily="18" charset="0"/>
              </a:rPr>
              <a:t>Enhancing safe and independent navigation </a:t>
            </a:r>
            <a:endParaRPr lang="en-IN" dirty="0">
              <a:solidFill>
                <a:srgbClr val="00B0F0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37F247-5A2E-4DC7-85AF-83126688B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3" y="2067964"/>
            <a:ext cx="7342579" cy="10715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7CBAA6-17FD-4FE6-9CCF-EEA8ECA03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8651382" y="928459"/>
            <a:ext cx="1664985" cy="166498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4" name="Graphic 23" descr="Graduation cap with solid fill">
            <a:extLst>
              <a:ext uri="{FF2B5EF4-FFF2-40B4-BE49-F238E27FC236}">
                <a16:creationId xmlns:a16="http://schemas.microsoft.com/office/drawing/2014/main" id="{D15A5FBD-1B65-457D-98B8-93A7586028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1285" y="5066311"/>
            <a:ext cx="712575" cy="712575"/>
          </a:xfrm>
          <a:prstGeom prst="rect">
            <a:avLst/>
          </a:prstGeom>
        </p:spPr>
      </p:pic>
      <p:pic>
        <p:nvPicPr>
          <p:cNvPr id="26" name="Graphic 25" descr="Users with solid fill">
            <a:extLst>
              <a:ext uri="{FF2B5EF4-FFF2-40B4-BE49-F238E27FC236}">
                <a16:creationId xmlns:a16="http://schemas.microsoft.com/office/drawing/2014/main" id="{DDE1A5CF-5361-409E-94B9-0E3445F02A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8077" y="5105981"/>
            <a:ext cx="731855" cy="7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1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62DE7-0C9E-4992-B560-013FF5D6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2A2B21F8-8419-3543-2A07-F0BD35A5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5062" y="393491"/>
            <a:ext cx="6677067" cy="1921022"/>
          </a:xfrm>
        </p:spPr>
        <p:txBody>
          <a:bodyPr/>
          <a:lstStyle/>
          <a:p>
            <a:r>
              <a:rPr lang="en-US" u="sng" dirty="0">
                <a:latin typeface="Baskerville Old Face" panose="02020602080505020303" pitchFamily="18" charset="0"/>
              </a:rPr>
              <a:t>Problem &amp; Motivation</a:t>
            </a:r>
          </a:p>
        </p:txBody>
      </p:sp>
      <p:pic>
        <p:nvPicPr>
          <p:cNvPr id="6" name="Content Placeholder 5" descr="A blue toy on a table&#10;&#10;AI-generated content may be incorrect.">
            <a:extLst>
              <a:ext uri="{FF2B5EF4-FFF2-40B4-BE49-F238E27FC236}">
                <a16:creationId xmlns:a16="http://schemas.microsoft.com/office/drawing/2014/main" id="{3B410EF5-E94F-BFF2-38DE-461F74A24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54666" y="1354002"/>
            <a:ext cx="3212825" cy="428376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3555139C-F421-A849-AB42-B1A898F33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413" y="1269587"/>
            <a:ext cx="7731253" cy="44525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Blind and visually impaired people have limited access to common card games like UNO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Existing games are mostly visual and not accessible without help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This reduces social interaction with sighted friends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We designed an accessible UNO game for blind and sighted players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Players can enjoy the game independently and fairly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The system uses a simple setup with a transparent mechanism box and a blue card-detection box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A camera reads the card, and the system gives audio and vibration feedback 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Baskerville Old Face" panose="02020602080505020303" pitchFamily="18" charset="0"/>
                <a:ea typeface="+mn-lt"/>
                <a:cs typeface="+mn-lt"/>
              </a:rPr>
              <a:t>Users place a card, press a button, feel vibration for confirmation, then hear card number and color via headphones </a:t>
            </a:r>
            <a:endParaRPr lang="en-US" sz="1800" dirty="0">
              <a:latin typeface="Baskerville Old Face" panose="02020602080505020303" pitchFamily="18" charset="0"/>
            </a:endParaRPr>
          </a:p>
          <a:p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CAA52-8C56-DA95-5449-6D513101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011" y="587179"/>
            <a:ext cx="4079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CDF800C7-EB57-4D47-B812-7E819E89D54B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21694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BC721F-D918-4AC5-9106-70FB329E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CF5300B-BED8-E9A3-D583-DA5C8F8C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848"/>
            <a:ext cx="10667998" cy="1002422"/>
          </a:xfrm>
        </p:spPr>
        <p:txBody>
          <a:bodyPr/>
          <a:lstStyle/>
          <a:p>
            <a:r>
              <a:rPr lang="en-US" u="sng" dirty="0">
                <a:latin typeface="Baskerville Old Face" panose="02020602080505020303" pitchFamily="18" charset="0"/>
              </a:rPr>
              <a:t>Existing Solutions</a:t>
            </a:r>
          </a:p>
        </p:txBody>
      </p:sp>
      <p:pic>
        <p:nvPicPr>
          <p:cNvPr id="6" name="Content Placeholder 5" descr="A box of garmentille game&#10;&#10;AI-generated content may be incorrect.">
            <a:extLst>
              <a:ext uri="{FF2B5EF4-FFF2-40B4-BE49-F238E27FC236}">
                <a16:creationId xmlns:a16="http://schemas.microsoft.com/office/drawing/2014/main" id="{C6E4A318-805E-AD08-374F-FA0492F2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54" r="8610" b="-4"/>
          <a:stretch>
            <a:fillRect/>
          </a:stretch>
        </p:blipFill>
        <p:spPr>
          <a:xfrm>
            <a:off x="8301642" y="1197224"/>
            <a:ext cx="2879656" cy="4477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1EC41-C74F-E6F5-1BF1-CE7D5E67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011" y="587179"/>
            <a:ext cx="4079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5E1CD2-95BE-7A1C-A213-F5B6F33281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896" y="1355270"/>
            <a:ext cx="8148385" cy="427536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Existing similar solutions: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Braille UNO cards (raised symbols for tactile reading)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Audio-based card games with pre-recorded instructions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Mobile apps that read cards using a camera and text-to-speech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Assistive board/card games designed for visually impaired users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Limitations of existing solutions: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Often require constant tactile reading (slow gameplay)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Not well integrated for both blind and sighted players together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Limited real-time interaction and game feedback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Baskerville Old Face" panose="02020602080505020303" pitchFamily="18" charset="0"/>
              </a:rPr>
              <a:t>Usually need separate tools (phone/app, special cards, etc.)</a:t>
            </a:r>
          </a:p>
          <a:p>
            <a:pPr marL="283210" indent="-283210">
              <a:lnSpc>
                <a:spcPct val="102000"/>
              </a:lnSpc>
            </a:pPr>
            <a:endParaRPr lang="en-US" dirty="0"/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A0F67C93-438F-4022-AE5D-6DBD8282755E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207577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9D7E5D-D8C5-4B1F-A7ED-90A2EC74E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34862B-6D42-EA46-9216-53FCAC6D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357152"/>
            <a:ext cx="10667998" cy="1002422"/>
          </a:xfrm>
        </p:spPr>
        <p:txBody>
          <a:bodyPr anchor="ctr">
            <a:normAutofit/>
          </a:bodyPr>
          <a:lstStyle/>
          <a:p>
            <a:r>
              <a:rPr lang="en-US" u="sng" dirty="0">
                <a:latin typeface="Baskerville Old Face" panose="02020602080505020303" pitchFamily="18" charset="0"/>
              </a:rPr>
              <a:t>Proposed Solution</a:t>
            </a:r>
          </a:p>
        </p:txBody>
      </p:sp>
      <p:pic>
        <p:nvPicPr>
          <p:cNvPr id="6" name="Content Placeholder 5" descr="A plastic box with wires and wires&#10;&#10;AI-generated content may be incorrect.">
            <a:extLst>
              <a:ext uri="{FF2B5EF4-FFF2-40B4-BE49-F238E27FC236}">
                <a16:creationId xmlns:a16="http://schemas.microsoft.com/office/drawing/2014/main" id="{0DFBE8C9-44F9-9471-3F53-1F4DB10B5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6035" r="3461" b="-4"/>
          <a:stretch>
            <a:fillRect/>
          </a:stretch>
        </p:blipFill>
        <p:spPr>
          <a:xfrm>
            <a:off x="8935351" y="1272653"/>
            <a:ext cx="2581273" cy="4275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ED578-939E-2966-842F-BBA991AC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011" y="587179"/>
            <a:ext cx="4079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EF011F-2EFE-1873-8CF6-1C85986428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0425" y="1639726"/>
            <a:ext cx="7829550" cy="4013132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We developed an accessible UNO system for both blind and sighted players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Players can play together without needing  assistance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A camera-based system detects the card placed on the device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A simple button interface is used to interact with the system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Audio output announces the card’s number and color via headphones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Vibration (buzzer) provides physical feedback for successful actions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A two-part box design is used: </a:t>
            </a:r>
          </a:p>
          <a:p>
            <a:pPr marL="688340" lvl="1" indent="-285750"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Transparent lower box  contains the main mechanism </a:t>
            </a:r>
          </a:p>
          <a:p>
            <a:pPr marL="688340" lvl="1" indent="-285750"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Blue upper box helps position the card correctly for the camera </a:t>
            </a:r>
          </a:p>
          <a:p>
            <a:pPr>
              <a:lnSpc>
                <a:spcPct val="102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skerville Old Face" panose="02020602080505020303" pitchFamily="18" charset="0"/>
              </a:rPr>
              <a:t>Goal: create a fully accessible, real-time, and inclusive card game experience </a:t>
            </a:r>
          </a:p>
          <a:p>
            <a:pPr marL="283210" indent="-283210">
              <a:lnSpc>
                <a:spcPct val="102000"/>
              </a:lnSpc>
            </a:pPr>
            <a:endParaRPr lang="en-US" sz="1700" dirty="0"/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2DFDAC31-B527-4B2C-BDD7-5578D7436DC8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421683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B4CD33-A96C-4FF3-83B7-2EF21FEDC5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0"/>
            <a:ext cx="609599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7636A3-A47B-498B-A701-700B9FAF8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0"/>
            <a:ext cx="6096000" cy="682067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3FD8BF-ED54-420D-9DBE-E5EE80F3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t>5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3" name="Picture 12" descr="A diagram of a computer&#10;&#10;AI-generated content may be incorrect.">
            <a:extLst>
              <a:ext uri="{FF2B5EF4-FFF2-40B4-BE49-F238E27FC236}">
                <a16:creationId xmlns:a16="http://schemas.microsoft.com/office/drawing/2014/main" id="{4ED0600A-CB2C-4F8B-987B-615B696AE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99" y="-241080"/>
            <a:ext cx="6480000" cy="6773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6AB4C4-0916-499A-AF00-BD06171830F3}"/>
              </a:ext>
            </a:extLst>
          </p:cNvPr>
          <p:cNvSpPr txBox="1"/>
          <p:nvPr/>
        </p:nvSpPr>
        <p:spPr>
          <a:xfrm>
            <a:off x="-88097" y="1718719"/>
            <a:ext cx="62721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rgbClr val="002060"/>
                </a:solidFill>
                <a:latin typeface="Baskerville Old Face" panose="02020602080505020303" pitchFamily="18" charset="0"/>
              </a:rPr>
              <a:t>System</a:t>
            </a:r>
          </a:p>
          <a:p>
            <a:pPr algn="ctr"/>
            <a:r>
              <a:rPr lang="en-US" sz="9600" dirty="0">
                <a:solidFill>
                  <a:srgbClr val="002060"/>
                </a:solidFill>
                <a:latin typeface="Baskerville Old Face" panose="02020602080505020303" pitchFamily="18" charset="0"/>
              </a:rPr>
              <a:t>Architecture</a:t>
            </a:r>
            <a:endParaRPr lang="en-IN" sz="9600" dirty="0">
              <a:solidFill>
                <a:srgbClr val="00206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4DDF63D9-E765-4D21-B7C8-835AF5A819D1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315188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1B102F8-EC83-4219-9639-C2ADDB494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394" y="0"/>
            <a:ext cx="6097605" cy="682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69061B-93AF-4A3E-9D95-D1F4A2B9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/>
            </a:b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050939-D8BA-4932-A12D-76E1C8DB0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168091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05C8E-8DB2-4A35-8654-BC76A6BEF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2896595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79838-5C1C-498A-A57F-23C902B64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3555632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6CE282-77A8-4C84-93B8-1246EED1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419185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D6078F-F5C0-4700-84EC-89FE50E35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480728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4A029-8AD0-4A10-B977-541CE5DD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103" y="1491266"/>
            <a:ext cx="10259289" cy="4630541"/>
          </a:xfrm>
          <a:prstGeom prst="roundRect">
            <a:avLst>
              <a:gd name="adj" fmla="val 0"/>
            </a:avLst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2FC0-087E-4C53-82C7-1D7555E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BD21C99-EB81-4870-AB48-715EBB543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989" y="5479678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A007EF-17B2-4B45-8EC3-0AD7AA26B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18" y="228875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C17C2-BDD9-4212-8128-291227C4DC2A}"/>
              </a:ext>
            </a:extLst>
          </p:cNvPr>
          <p:cNvSpPr txBox="1"/>
          <p:nvPr/>
        </p:nvSpPr>
        <p:spPr>
          <a:xfrm>
            <a:off x="1287608" y="173025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Camera module for card detection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AC8C94-B03B-416A-8D7B-52E6F4540BE9}"/>
              </a:ext>
            </a:extLst>
          </p:cNvPr>
          <p:cNvSpPr txBox="1"/>
          <p:nvPr/>
        </p:nvSpPr>
        <p:spPr>
          <a:xfrm>
            <a:off x="1287608" y="230800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Microcontroller (processing unit)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D299DC-A445-4DE6-94F7-B744B54B5EC4}"/>
              </a:ext>
            </a:extLst>
          </p:cNvPr>
          <p:cNvSpPr txBox="1"/>
          <p:nvPr/>
        </p:nvSpPr>
        <p:spPr>
          <a:xfrm>
            <a:off x="1287608" y="29459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Transparent mechanism box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C8348-1A9B-446E-B7EB-FF489BC8DCFC}"/>
              </a:ext>
            </a:extLst>
          </p:cNvPr>
          <p:cNvSpPr txBox="1"/>
          <p:nvPr/>
        </p:nvSpPr>
        <p:spPr>
          <a:xfrm>
            <a:off x="1287608" y="358449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Blue card positioning box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00A5B5-06D4-4B67-9FAE-D77DF87B0708}"/>
              </a:ext>
            </a:extLst>
          </p:cNvPr>
          <p:cNvSpPr txBox="1"/>
          <p:nvPr/>
        </p:nvSpPr>
        <p:spPr>
          <a:xfrm>
            <a:off x="1287608" y="424119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Push button (user input)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EA4458-F1B2-42C9-9408-5A275F5568E8}"/>
              </a:ext>
            </a:extLst>
          </p:cNvPr>
          <p:cNvSpPr txBox="1"/>
          <p:nvPr/>
        </p:nvSpPr>
        <p:spPr>
          <a:xfrm>
            <a:off x="1287608" y="483707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Buzzer (vibration feedback)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CB97BA-2A9B-41ED-971A-E78B52FD96C9}"/>
              </a:ext>
            </a:extLst>
          </p:cNvPr>
          <p:cNvSpPr txBox="1"/>
          <p:nvPr/>
        </p:nvSpPr>
        <p:spPr>
          <a:xfrm>
            <a:off x="1287608" y="552901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Headphones (audio output)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62D1D9-9FDC-4909-94A8-FAA474DA8027}"/>
              </a:ext>
            </a:extLst>
          </p:cNvPr>
          <p:cNvSpPr txBox="1"/>
          <p:nvPr/>
        </p:nvSpPr>
        <p:spPr>
          <a:xfrm>
            <a:off x="6046269" y="3062173"/>
            <a:ext cx="75427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Baskerville Old Face" panose="02020602080505020303" pitchFamily="18" charset="0"/>
              </a:rPr>
              <a:t>Components</a:t>
            </a:r>
            <a:endParaRPr lang="en-IN" sz="7200" dirty="0">
              <a:latin typeface="Baskerville Old Face" panose="02020602080505020303" pitchFamily="18" charset="0"/>
            </a:endParaRPr>
          </a:p>
        </p:txBody>
      </p:sp>
      <p:sp>
        <p:nvSpPr>
          <p:cNvPr id="22" name="Shape 31">
            <a:extLst>
              <a:ext uri="{FF2B5EF4-FFF2-40B4-BE49-F238E27FC236}">
                <a16:creationId xmlns:a16="http://schemas.microsoft.com/office/drawing/2014/main" id="{C2C2CF0E-46CB-4B62-9C88-F3DEE25CB1C0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74112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5A4AE88-755F-42A8-BF09-24C7808E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702B27-B902-4BA6-B5AD-CDC32886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17" y="235616"/>
            <a:ext cx="5532922" cy="703125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latin typeface="Baskerville Old Face" panose="02020602080505020303" pitchFamily="18" charset="0"/>
              </a:rPr>
              <a:t>WORKING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A129C-D483-4367-9BCA-6D7DB004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t>7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04A33B-C53E-4816-8E0C-B2D5FCC8820A}"/>
              </a:ext>
            </a:extLst>
          </p:cNvPr>
          <p:cNvCxnSpPr>
            <a:cxnSpLocks/>
          </p:cNvCxnSpPr>
          <p:nvPr/>
        </p:nvCxnSpPr>
        <p:spPr>
          <a:xfrm flipV="1">
            <a:off x="502118" y="952905"/>
            <a:ext cx="11038573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72672F-76F7-453B-8C1F-3CD2364ACE5F}"/>
              </a:ext>
            </a:extLst>
          </p:cNvPr>
          <p:cNvSpPr txBox="1"/>
          <p:nvPr/>
        </p:nvSpPr>
        <p:spPr>
          <a:xfrm>
            <a:off x="1848049" y="4950757"/>
            <a:ext cx="8412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Baskerville Old Face" panose="02020602080505020303" pitchFamily="18" charset="0"/>
              </a:rPr>
              <a:t>The system provides both audio (via headphones) and vibration (via buzzer) feedback to ensure an accessible and engaging gameplay experience.</a:t>
            </a:r>
          </a:p>
        </p:txBody>
      </p:sp>
      <p:sp>
        <p:nvSpPr>
          <p:cNvPr id="7" name="Action Button: Sound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3DFE005-917C-4649-A238-2A4C43BDA27C}"/>
              </a:ext>
            </a:extLst>
          </p:cNvPr>
          <p:cNvSpPr/>
          <p:nvPr/>
        </p:nvSpPr>
        <p:spPr>
          <a:xfrm>
            <a:off x="1232032" y="5072515"/>
            <a:ext cx="548640" cy="462013"/>
          </a:xfrm>
          <a:prstGeom prst="actionButtonSound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CD99F1-5FCB-4287-81BB-AA995256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85" y="1416460"/>
            <a:ext cx="10327429" cy="3122624"/>
          </a:xfrm>
          <a:prstGeom prst="rect">
            <a:avLst/>
          </a:prstGeom>
        </p:spPr>
      </p:pic>
      <p:sp>
        <p:nvSpPr>
          <p:cNvPr id="14" name="Shape 31">
            <a:extLst>
              <a:ext uri="{FF2B5EF4-FFF2-40B4-BE49-F238E27FC236}">
                <a16:creationId xmlns:a16="http://schemas.microsoft.com/office/drawing/2014/main" id="{53475526-2B34-465C-B234-B60C36F47F7C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186848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54FDE4E-00FC-4EF7-970F-FAE7BDC25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AD75FC-4481-476F-B9D8-080BE2946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16" y="240429"/>
            <a:ext cx="4791778" cy="693500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latin typeface="Baskerville Old Face" panose="02020602080505020303" pitchFamily="18" charset="0"/>
              </a:rPr>
              <a:t>PRODUCT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D3EB6-AEB6-48B3-B1C7-84E527E8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t>8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00D299-876D-4298-9F61-BFD4D274ED3E}"/>
              </a:ext>
            </a:extLst>
          </p:cNvPr>
          <p:cNvCxnSpPr>
            <a:cxnSpLocks/>
          </p:cNvCxnSpPr>
          <p:nvPr/>
        </p:nvCxnSpPr>
        <p:spPr>
          <a:xfrm flipV="1">
            <a:off x="502118" y="952905"/>
            <a:ext cx="11038573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D789A4-A859-4EDA-816D-CEE49DCDCD9C}"/>
              </a:ext>
            </a:extLst>
          </p:cNvPr>
          <p:cNvSpPr txBox="1"/>
          <p:nvPr/>
        </p:nvSpPr>
        <p:spPr>
          <a:xfrm>
            <a:off x="502118" y="1010660"/>
            <a:ext cx="6668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Baskerville Old Face" panose="02020602080505020303" pitchFamily="18" charset="0"/>
              </a:rPr>
              <a:t>Design Overview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The system is built with a two-part box structure that ensures accurate card detection, user convenience, and accessibility.</a:t>
            </a:r>
            <a:endParaRPr lang="en-IN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4702D3-CC2A-4EB3-82E5-00D6FDE3CF51}"/>
              </a:ext>
            </a:extLst>
          </p:cNvPr>
          <p:cNvSpPr txBox="1"/>
          <p:nvPr/>
        </p:nvSpPr>
        <p:spPr>
          <a:xfrm>
            <a:off x="502116" y="2142612"/>
            <a:ext cx="77948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latin typeface="Baskerville Old Face" panose="02020602080505020303" pitchFamily="18" charset="0"/>
              </a:rPr>
              <a:t>Key Design Features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Two-part box structure for usability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Transparent lower box to house internal components and mechanism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Blue upper box to help position the card accurately for the camera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Simple button interface for user input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Audio output through headphones for clear feedback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Vibration (buzzer) for physical confirmation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Compact, durable, and user-friendly design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Accessible for both blind and sighted players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39EBBB-2139-4ACC-B10B-79BAA81F781B}"/>
              </a:ext>
            </a:extLst>
          </p:cNvPr>
          <p:cNvCxnSpPr>
            <a:cxnSpLocks/>
          </p:cNvCxnSpPr>
          <p:nvPr/>
        </p:nvCxnSpPr>
        <p:spPr>
          <a:xfrm flipV="1">
            <a:off x="502117" y="2085499"/>
            <a:ext cx="11038573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B567C9-C94E-4C41-A2FC-A73F1B98B021}"/>
              </a:ext>
            </a:extLst>
          </p:cNvPr>
          <p:cNvCxnSpPr>
            <a:cxnSpLocks/>
          </p:cNvCxnSpPr>
          <p:nvPr/>
        </p:nvCxnSpPr>
        <p:spPr>
          <a:xfrm flipV="1">
            <a:off x="502117" y="4881731"/>
            <a:ext cx="11038573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EFEA3B-90DA-4396-B51E-4EE63FFBF909}"/>
              </a:ext>
            </a:extLst>
          </p:cNvPr>
          <p:cNvSpPr txBox="1"/>
          <p:nvPr/>
        </p:nvSpPr>
        <p:spPr>
          <a:xfrm>
            <a:off x="502116" y="4970081"/>
            <a:ext cx="7573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latin typeface="Baskerville Old Face" panose="02020602080505020303" pitchFamily="18" charset="0"/>
              </a:rPr>
              <a:t>Design Goals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Ensure accurate card detection and reliable feedback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Provide an inclusive and fair gaming experience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Baskerville Old Face" panose="02020602080505020303" pitchFamily="18" charset="0"/>
              </a:rPr>
              <a:t>Enable real-time interaction with audio and vibration feedback</a:t>
            </a:r>
          </a:p>
        </p:txBody>
      </p:sp>
      <p:sp>
        <p:nvSpPr>
          <p:cNvPr id="18" name="Shape 31">
            <a:extLst>
              <a:ext uri="{FF2B5EF4-FFF2-40B4-BE49-F238E27FC236}">
                <a16:creationId xmlns:a16="http://schemas.microsoft.com/office/drawing/2014/main" id="{03189199-0F62-4933-8C89-6AACABBA9D17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2156035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5A4AE88-755F-42A8-BF09-24C7808E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702B27-B902-4BA6-B5AD-CDC32886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17" y="235616"/>
            <a:ext cx="5532922" cy="703125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latin typeface="Baskerville Old Face" panose="02020602080505020303" pitchFamily="18" charset="0"/>
              </a:rPr>
              <a:t>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A129C-D483-4367-9BCA-6D7DB004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>
                <a:solidFill>
                  <a:schemeClr val="bg2">
                    <a:lumMod val="10000"/>
                  </a:schemeClr>
                </a:solidFill>
              </a:rPr>
              <a:t>9</a:t>
            </a:fld>
            <a:endParaRPr lang="en-US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04A33B-C53E-4816-8E0C-B2D5FCC8820A}"/>
              </a:ext>
            </a:extLst>
          </p:cNvPr>
          <p:cNvCxnSpPr>
            <a:cxnSpLocks/>
          </p:cNvCxnSpPr>
          <p:nvPr/>
        </p:nvCxnSpPr>
        <p:spPr>
          <a:xfrm flipV="1">
            <a:off x="502118" y="952905"/>
            <a:ext cx="11038573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31">
            <a:extLst>
              <a:ext uri="{FF2B5EF4-FFF2-40B4-BE49-F238E27FC236}">
                <a16:creationId xmlns:a16="http://schemas.microsoft.com/office/drawing/2014/main" id="{53475526-2B34-465C-B234-B60C36F47F7C}"/>
              </a:ext>
            </a:extLst>
          </p:cNvPr>
          <p:cNvSpPr/>
          <p:nvPr/>
        </p:nvSpPr>
        <p:spPr>
          <a:xfrm>
            <a:off x="0" y="6208296"/>
            <a:ext cx="12192000" cy="32414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pPr algn="ctr"/>
            <a:r>
              <a:rPr lang="en-US" sz="113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</a:t>
            </a:r>
            <a:r>
              <a:rPr lang="en-US" sz="1130" dirty="0" err="1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RPi.GPIO</a:t>
            </a:r>
            <a:endParaRPr lang="en-US" sz="113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FE6683-9B7B-4DB0-A356-6AE37AEC7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8" y="1122088"/>
            <a:ext cx="4830268" cy="27472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62CE4A-5D19-445D-A457-278BD357E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236" y="1122088"/>
            <a:ext cx="4682339" cy="27472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FB6117-DA78-4107-8A19-94451F08B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6658" y="4052650"/>
            <a:ext cx="3279761" cy="196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16719585-2F3E-4A13-85D5-3F8FD8826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219456"/>
            <a:ext cx="1158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u="sng" dirty="0">
                <a:solidFill>
                  <a:srgbClr val="00C2A8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Implementation</a:t>
            </a:r>
            <a:endParaRPr lang="en-US" sz="4267" u="sng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" y="877824"/>
            <a:ext cx="1158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chemeClr val="bg2">
                    <a:lumMod val="10000"/>
                  </a:schemeClr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Hardware · Software · Detection · Output · Logic · Enhancements</a:t>
            </a:r>
            <a:endParaRPr lang="en-US" sz="1733" dirty="0">
              <a:solidFill>
                <a:schemeClr val="bg2">
                  <a:lumMod val="1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341120"/>
            <a:ext cx="1158240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" y="14630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4800" y="14630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104" y="15849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1621536"/>
            <a:ext cx="268224" cy="268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0016" y="158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Hardware Setup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1104" y="2023872"/>
            <a:ext cx="353568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Connect webcam to Raspberry Pi via USB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Wire vibration motor to GPIO via transistor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Connect push button with pull-up resistor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Plug earphone into 3.5mm audio jack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81856" y="14630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81856" y="14630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8160" y="15849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736" y="1621536"/>
            <a:ext cx="268224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67072" y="158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Card Detection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328160" y="2004622"/>
            <a:ext cx="3547872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Capture frame on button press via OpenCV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Preprocess: resize, denoise, enhance contrast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Detect card color using HSV color masking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Identify number using ML model or Tesseract OCR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58912" y="14630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58912" y="14630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05216" y="15849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792" y="1621536"/>
            <a:ext cx="268224" cy="2682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44128" y="158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467" dirty="0">
              <a:latin typeface="Baskerville Old Face" panose="02020602080505020303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205216" y="2023872"/>
            <a:ext cx="353568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Install pyttsx3 or espeak for TTS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Convert card info (e.g. 'Green 4') to speech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Announce special cards: Skip, Reverse, Wild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Support multi-language TTS output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04800" y="39014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04800" y="39014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1104" y="40233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" y="4059936"/>
            <a:ext cx="268224" cy="2682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0016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Haptic Feedback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451104" y="4404522"/>
            <a:ext cx="353568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Pulse vibration motor on successful scan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Error pattern vibration if card not recognized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Use RPi.GPIO to control motor via transistor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Distinct patterns for different game events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181856" y="39014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181856" y="39014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328160" y="40233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4736" y="4059936"/>
            <a:ext cx="268224" cy="2682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767072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Main Loop Logic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328160" y="4462272"/>
            <a:ext cx="353568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Poll GPIO button state continuously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On press: capture → process → output → idle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Handle exceptions for unrecognized cards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Retry prompt on failed detection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8058912" y="3901440"/>
            <a:ext cx="3779520" cy="2316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58912" y="3901440"/>
            <a:ext cx="377952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05216" y="402336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1792" y="4059936"/>
            <a:ext cx="268224" cy="26822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4412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205216" y="4414147"/>
            <a:ext cx="353568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Multiplayer turn tracking with audio cues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Confidence threshold for re-scan if low score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Special card announcements (Draw Two, Wild)</a:t>
            </a:r>
            <a:endParaRPr lang="en-US" sz="1500" dirty="0">
              <a:latin typeface="Baskerville Old Face" panose="02020602080505020303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Battery pack for full portability</a:t>
            </a:r>
            <a:endParaRPr lang="en-US" sz="1500" dirty="0">
              <a:latin typeface="Baskerville Old Face" panose="02020602080505020303" pitchFamily="18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RPi.GPIO</a:t>
            </a:r>
            <a:endParaRPr lang="en-US" sz="1133" dirty="0"/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B260A39E-38C6-4D93-9065-8D2EAD0791D4}"/>
              </a:ext>
            </a:extLst>
          </p:cNvPr>
          <p:cNvSpPr txBox="1">
            <a:spLocks/>
          </p:cNvSpPr>
          <p:nvPr/>
        </p:nvSpPr>
        <p:spPr>
          <a:xfrm>
            <a:off x="11890470" y="585851"/>
            <a:ext cx="40798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925F1B99-AA04-426D-984C-9D8AF4280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219456"/>
            <a:ext cx="1158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u="sng" dirty="0">
                <a:solidFill>
                  <a:srgbClr val="00C2A8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Testing &amp; Results</a:t>
            </a:r>
            <a:endParaRPr lang="en-US" sz="4267" u="sng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" y="877824"/>
            <a:ext cx="1158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chemeClr val="bg2">
                    <a:lumMod val="10000"/>
                  </a:schemeClr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Card Recognition · Response Time · Accuracy · User Feedback</a:t>
            </a:r>
            <a:endParaRPr lang="en-US" sz="1733" dirty="0">
              <a:solidFill>
                <a:schemeClr val="bg2">
                  <a:lumMod val="1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341120"/>
            <a:ext cx="1158240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" y="1438656"/>
            <a:ext cx="3657600" cy="13411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4800" y="1438656"/>
            <a:ext cx="365760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800" y="1487424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00C2A8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4800" y="21579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Card Recognition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0" y="1438656"/>
            <a:ext cx="3657600" cy="13411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0" y="1438656"/>
            <a:ext cx="3657600" cy="48768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7200" y="1487424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4FA3E0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1.2s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7200" y="21579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Avg. Response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438656"/>
            <a:ext cx="3657600" cy="13411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438656"/>
            <a:ext cx="3657600" cy="487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487424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A78BFA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21579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Special Cards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1600" dirty="0">
                <a:solidFill>
                  <a:srgbClr val="B0C4D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04800" y="2950464"/>
            <a:ext cx="3657600" cy="3316224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4800" y="2950464"/>
            <a:ext cx="3657600" cy="487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104" y="3072384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108960"/>
            <a:ext cx="268224" cy="2682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0016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1104" y="3535680"/>
            <a:ext cx="3413760" cy="258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Tested all 4 colors: Red, Blue, Green, Yellow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Tested number cards (0–9) and action cards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Tested in bright, dim &amp; artificial lighting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Tested with worn, bent &amp; partially covered cards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267200" y="2950464"/>
            <a:ext cx="3657600" cy="3316224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67200" y="2950464"/>
            <a:ext cx="3657600" cy="48768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13504" y="3072384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4FA3E0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080" y="3108960"/>
            <a:ext cx="268224" cy="26822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52416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FA3E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413504" y="3535680"/>
            <a:ext cx="3413760" cy="258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4FA3E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Number cards: 95% accuracy under good lighting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4FA3E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Color detection: 98% accuracy across all shades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4FA3E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Action cards (Skip/Reverse/Wild): 89% accuracy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4FA3E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Low light conditions reduced accuracy to ~78%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229600" y="2950464"/>
            <a:ext cx="3657600" cy="3316224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29600" y="2950464"/>
            <a:ext cx="3657600" cy="487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75904" y="3072384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108960"/>
            <a:ext cx="268224" cy="26822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814816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A78BF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375904" y="3535680"/>
            <a:ext cx="3413760" cy="258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A78BF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Visually impaired testers found audio clear &amp; helpful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A78BF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Vibration alerts were intuitive and responsive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A78BF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Button press felt natural and easy to locate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A78BF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>
                <a:solidFill>
                  <a:srgbClr val="C8DFF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Requested faster scan time &amp; louder audio output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 · RPi.GPIO</a:t>
            </a:r>
            <a:endParaRPr lang="en-US" sz="1133" dirty="0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AA2055AA-74E8-427D-BEDE-4A0248609AA6}"/>
              </a:ext>
            </a:extLst>
          </p:cNvPr>
          <p:cNvSpPr txBox="1">
            <a:spLocks/>
          </p:cNvSpPr>
          <p:nvPr/>
        </p:nvSpPr>
        <p:spPr>
          <a:xfrm>
            <a:off x="11708812" y="512066"/>
            <a:ext cx="483188" cy="36575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F6210E70-AD67-461D-9E86-18C6B0C8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2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219456"/>
            <a:ext cx="1158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u="sng" dirty="0">
                <a:solidFill>
                  <a:srgbClr val="00C2A8"/>
                </a:solidFill>
                <a:latin typeface="Baskerville Old Face" panose="02020602080505020303" pitchFamily="18" charset="0"/>
                <a:ea typeface="Arial Black" pitchFamily="34" charset="-122"/>
                <a:cs typeface="Arial Black" pitchFamily="34" charset="-120"/>
              </a:rPr>
              <a:t>Conclusion</a:t>
            </a:r>
            <a:r>
              <a:rPr lang="en-US" sz="4267" b="1" dirty="0">
                <a:solidFill>
                  <a:srgbClr val="00C2A8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 </a:t>
            </a:r>
            <a:endParaRPr lang="en-US" sz="4267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" y="877824"/>
            <a:ext cx="11582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Conclusion &amp; Improvements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365504"/>
            <a:ext cx="1158240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" y="1487424"/>
            <a:ext cx="5608320" cy="3901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800" y="1487424"/>
            <a:ext cx="5608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D1B2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Makes UNO accessible for visually impaired players using affordable hardware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657856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04160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Combines computer vision, audio &amp; haptic feedback in a compact 3D-printed device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3486912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33216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Proves inclusive game design is achievable without expensive commercial solutions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462272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Built with low-cost components — Raspberry Pi, webcam, vibration motor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5145024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5291328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Bridges the gap between accessibility and everyday entertainment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78880" y="1487424"/>
            <a:ext cx="5608320" cy="390144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880" y="1487424"/>
            <a:ext cx="5608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C2A8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1975104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Train custom ML model for better card recognition in varied lighting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657856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9840" y="2804160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Add multiplayer turn tracking &amp; score announcement system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3486912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9840" y="3633216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Replace wired button with Bluetooth remote for easier handling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39840" y="4315968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9840" y="4462272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Optimize TensorFlow Lite model for faster, low-latency detection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5145024"/>
            <a:ext cx="5242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9840" y="5291328"/>
            <a:ext cx="5425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600" dirty="0"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Add rechargeable battery pack for full portability</a:t>
            </a:r>
            <a:endParaRPr lang="en-US" sz="1600" dirty="0">
              <a:latin typeface="Baskerville Old Face" panose="020206020805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6" y="6437376"/>
            <a:ext cx="12094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BUNO — Accessible Gaming · Raspberry Pi · OpenCV · TensorFlow Lite · pyttsx3</a:t>
            </a:r>
            <a:endParaRPr lang="en-US" sz="1133" dirty="0"/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1AE91249-A610-4C93-9BB5-01F8C2CD62CC}"/>
              </a:ext>
            </a:extLst>
          </p:cNvPr>
          <p:cNvSpPr txBox="1">
            <a:spLocks/>
          </p:cNvSpPr>
          <p:nvPr/>
        </p:nvSpPr>
        <p:spPr>
          <a:xfrm>
            <a:off x="11784011" y="587179"/>
            <a:ext cx="613328" cy="4857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AC19ED-7CFA-4AF2-BE7E-6017F4B12C94}" type="slidenum">
              <a:rPr lang="en-US" smtClean="0">
                <a:solidFill>
                  <a:schemeClr val="bg2">
                    <a:lumMod val="10000"/>
                  </a:schemeClr>
                </a:solidFill>
              </a:rPr>
              <a:pPr/>
              <a:t>12</a:t>
            </a:fld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Custom 5">
      <a:majorFont>
        <a:latin typeface="Franklin Gothic Demi"/>
        <a:ea typeface=""/>
        <a:cs typeface=""/>
      </a:majorFont>
      <a:minorFont>
        <a:latin typeface="Franklin Gothic Medium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527777_win32_fixed.potx" id="{826F8C1F-4FB5-4CE6-B7A0-9EBD6074CC2F}" vid="{BB5D3E28-8CAE-479F-BD65-24FBDA1E6F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56D882AAB1044CB7B53BBEAB5A1A6E" ma:contentTypeVersion="1" ma:contentTypeDescription="Create a new document." ma:contentTypeScope="" ma:versionID="8f779455a51c01bd5537bd6ec77b2c76">
  <xsd:schema xmlns:xsd="http://www.w3.org/2001/XMLSchema" xmlns:xs="http://www.w3.org/2001/XMLSchema" xmlns:p="http://schemas.microsoft.com/office/2006/metadata/properties" xmlns:ns3="ef84031a-cd7a-461b-961f-c23a94b93919" targetNamespace="http://schemas.microsoft.com/office/2006/metadata/properties" ma:root="true" ma:fieldsID="ebf7dc6d3472d26c8d53fa2a95a141c8" ns3:_="">
    <xsd:import namespace="ef84031a-cd7a-461b-961f-c23a94b9391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4031a-cd7a-461b-961f-c23a94b9391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2A144C-EFE4-4AB4-9543-3E69572264B5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ef84031a-cd7a-461b-961f-c23a94b93919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34489AF-19B4-4AA9-82B5-D4BD05E21247}">
  <ds:schemaRefs>
    <ds:schemaRef ds:uri="ef84031a-cd7a-461b-961f-c23a94b939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4980DA3-6E21-4951-822A-14C234CD91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Safety procedures</Template>
  <TotalTime>5709</TotalTime>
  <Words>1199</Words>
  <Application>Microsoft Office PowerPoint</Application>
  <PresentationFormat>Widescreen</PresentationFormat>
  <Paragraphs>170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Baskerville Old Face</vt:lpstr>
      <vt:lpstr>Calibri</vt:lpstr>
      <vt:lpstr>Corbel</vt:lpstr>
      <vt:lpstr>Franklin Gothic Demi</vt:lpstr>
      <vt:lpstr>Franklin Gothic Medium</vt:lpstr>
      <vt:lpstr>Roboto</vt:lpstr>
      <vt:lpstr>Wingdings</vt:lpstr>
      <vt:lpstr>Headlines</vt:lpstr>
      <vt:lpstr>BUNO </vt:lpstr>
      <vt:lpstr>Problem &amp; Motivation</vt:lpstr>
      <vt:lpstr>Existing Solutions</vt:lpstr>
      <vt:lpstr>Proposed Solution</vt:lpstr>
      <vt:lpstr>PowerPoint Presentation</vt:lpstr>
      <vt:lpstr> </vt:lpstr>
      <vt:lpstr>WORKING PROCESS</vt:lpstr>
      <vt:lpstr>PRODUCT DESIGN</vt:lpstr>
      <vt:lpstr>CODE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Room 101</dc:title>
  <dc:creator>Aaron Varghese James Nolastname (Student)</dc:creator>
  <cp:lastModifiedBy>Aaron Varghese James Nolastname (Student)</cp:lastModifiedBy>
  <cp:revision>43</cp:revision>
  <dcterms:created xsi:type="dcterms:W3CDTF">2026-04-09T21:32:06Z</dcterms:created>
  <dcterms:modified xsi:type="dcterms:W3CDTF">2026-04-23T20:50:09Z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0x0101006356D882AAB1044CB7B53BBEAB5A1A6E</vt:lpwstr>
  </property>
</Properties>
</file>